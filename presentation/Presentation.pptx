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6052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6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0"/>
            <a:ext cx="76200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55000"/>
          </a:blip>
          <a:stretch>
            <a:fillRect/>
          </a:stretch>
        </p:blipFill>
        <p:spPr>
          <a:xfrm>
            <a:off x="10668000" y="0"/>
            <a:ext cx="4000500" cy="10287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857500"/>
            <a:ext cx="95250" cy="28575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619250" y="1619250"/>
            <a:ext cx="6667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BYTEBANDITS   •   AI TRACK</a:t>
            </a:r>
            <a:endParaRPr lang="en-US" sz="1950" dirty="0"/>
          </a:p>
        </p:txBody>
      </p:sp>
      <p:sp>
        <p:nvSpPr>
          <p:cNvPr id="6" name="Text 1"/>
          <p:cNvSpPr/>
          <p:nvPr/>
        </p:nvSpPr>
        <p:spPr>
          <a:xfrm>
            <a:off x="1619250" y="2857500"/>
            <a:ext cx="8096250" cy="2162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 Congestion Predictor &amp; Port Operations Optimiser</a:t>
            </a:r>
            <a:endParaRPr lang="en-US" sz="5400" dirty="0"/>
          </a:p>
        </p:txBody>
      </p:sp>
      <p:sp>
        <p:nvSpPr>
          <p:cNvPr id="7" name="Text 2"/>
          <p:cNvSpPr/>
          <p:nvPr/>
        </p:nvSpPr>
        <p:spPr>
          <a:xfrm>
            <a:off x="1619250" y="6191250"/>
            <a:ext cx="7239000" cy="742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250" dirty="0">
                <a:solidFill>
                  <a:srgbClr val="CFE3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real vessel-call data to proactive, shift-ready port decisions</a:t>
            </a:r>
            <a:endParaRPr lang="en-US" sz="2250" dirty="0"/>
          </a:p>
        </p:txBody>
      </p:sp>
      <p:sp>
        <p:nvSpPr>
          <p:cNvPr id="8" name="Text 3"/>
          <p:cNvSpPr/>
          <p:nvPr/>
        </p:nvSpPr>
        <p:spPr>
          <a:xfrm>
            <a:off x="1619250" y="8572500"/>
            <a:ext cx="7620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8FB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Srujal Patel  ·  Prince Patel  ·  Manav Patel  ·  Mantra Patel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394" y="284436"/>
            <a:ext cx="18288000" cy="1428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3875"/>
            <a:ext cx="95250" cy="55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24000" y="495300"/>
            <a:ext cx="142875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Port congestion is discovered too late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1528829" y="2664809"/>
            <a:ext cx="8251784" cy="380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99" b="1" dirty="0">
                <a:solidFill>
                  <a:srgbClr val="1B6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HURTS OPERATORS</a:t>
            </a:r>
            <a:endParaRPr lang="en-US" sz="1999" dirty="0"/>
          </a:p>
        </p:txBody>
      </p:sp>
      <p:sp>
        <p:nvSpPr>
          <p:cNvPr id="6" name="Text 2"/>
          <p:cNvSpPr/>
          <p:nvPr/>
        </p:nvSpPr>
        <p:spPr>
          <a:xfrm>
            <a:off x="1528829" y="3405349"/>
            <a:ext cx="8463363" cy="2517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332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Planning still runs on manual spreadsheets</a:t>
            </a:r>
            <a:endParaRPr lang="en-US" sz="2332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332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Vessel queues build before capacity problems are visible</a:t>
            </a:r>
            <a:endParaRPr lang="en-US" sz="2332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332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Berth and crane coordination is hard to align</a:t>
            </a:r>
            <a:endParaRPr lang="en-US" sz="2332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332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Supervisors need immediate, actionable decisions</a:t>
            </a:r>
            <a:endParaRPr lang="en-US" sz="233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3744" y="7165257"/>
            <a:ext cx="8006277" cy="24463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533" y="7554449"/>
            <a:ext cx="7116689" cy="4003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1" b="1" dirty="0">
                <a:solidFill>
                  <a:srgbClr val="FF8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VISIBILITY COMES TOO LATE</a:t>
            </a:r>
            <a:endParaRPr lang="en-US" sz="2101" dirty="0"/>
          </a:p>
        </p:txBody>
      </p:sp>
      <p:sp>
        <p:nvSpPr>
          <p:cNvPr id="9" name="Text 4"/>
          <p:cNvSpPr/>
          <p:nvPr/>
        </p:nvSpPr>
        <p:spPr>
          <a:xfrm>
            <a:off x="2208533" y="8110442"/>
            <a:ext cx="7116689" cy="8895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 LA/LB backlog: 100+ ships held offshore for weeks</a:t>
            </a:r>
            <a:endParaRPr lang="en-US" sz="280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4311" y="2095243"/>
            <a:ext cx="3048000" cy="1047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489561" y="2428618"/>
            <a:ext cx="2857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Vessel arrivals</a:t>
            </a:r>
            <a:endParaRPr lang="en-US" sz="1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408599" y="4361221"/>
            <a:ext cx="3048000" cy="10477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504134" y="4694596"/>
            <a:ext cx="2857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planning</a:t>
            </a:r>
            <a:endParaRPr lang="en-US" sz="195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9169" y="6627200"/>
            <a:ext cx="3048000" cy="10477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2494419" y="6817700"/>
            <a:ext cx="2857500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 congestion discovery</a:t>
            </a:r>
            <a:endParaRPr lang="en-US" sz="19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03836" y="8902760"/>
            <a:ext cx="3048000" cy="10477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499086" y="9093260"/>
            <a:ext cx="28575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Delays and waiting</a:t>
            </a:r>
            <a:endParaRPr lang="en-US" sz="1950" dirty="0"/>
          </a:p>
        </p:txBody>
      </p:sp>
      <p:sp>
        <p:nvSpPr>
          <p:cNvPr id="18" name="Text 9"/>
          <p:cNvSpPr/>
          <p:nvPr/>
        </p:nvSpPr>
        <p:spPr>
          <a:xfrm>
            <a:off x="13318712" y="3142983"/>
            <a:ext cx="1464888" cy="57745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63" b="1" dirty="0">
                <a:solidFill>
                  <a:srgbClr val="94B3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6063" dirty="0"/>
          </a:p>
          <a:p>
            <a:pPr marL="0" indent="0" algn="l">
              <a:buNone/>
            </a:pPr>
            <a:r>
              <a:rPr lang="en-US" sz="6063" b="1" dirty="0">
                <a:solidFill>
                  <a:srgbClr val="94B3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6063" dirty="0"/>
          </a:p>
          <a:p>
            <a:pPr marL="0" indent="0" algn="l">
              <a:buNone/>
            </a:pPr>
            <a:r>
              <a:rPr lang="en-US" sz="6063" b="1" dirty="0">
                <a:solidFill>
                  <a:srgbClr val="94B3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606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SOLUTION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333500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operational view connects arrivals, capacity, and action</a:t>
            </a:r>
            <a:endParaRPr lang="en-US" sz="3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857500"/>
            <a:ext cx="2571750" cy="1714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33500" y="3048000"/>
            <a:ext cx="2190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333500" y="3476625"/>
            <a:ext cx="2190750" cy="857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IMF PortWatch AIS-based vessel-call data</a:t>
            </a:r>
            <a:endParaRPr lang="en-US" sz="187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5250" y="2857500"/>
            <a:ext cx="2571750" cy="171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95750" y="3048000"/>
            <a:ext cx="2190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4095750" y="3476625"/>
            <a:ext cx="21907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72-hour calibrated vessel simulation</a:t>
            </a:r>
            <a:endParaRPr lang="en-US" sz="1875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857500"/>
            <a:ext cx="2571750" cy="1714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0" y="3048000"/>
            <a:ext cx="2190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250" dirty="0"/>
          </a:p>
        </p:txBody>
      </p:sp>
      <p:sp>
        <p:nvSpPr>
          <p:cNvPr id="12" name="Text 7"/>
          <p:cNvSpPr/>
          <p:nvPr/>
        </p:nvSpPr>
        <p:spPr>
          <a:xfrm>
            <a:off x="6858000" y="3476625"/>
            <a:ext cx="21907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 hotspot detection</a:t>
            </a:r>
            <a:endParaRPr lang="en-US" sz="1875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0" y="2857500"/>
            <a:ext cx="2571750" cy="1714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620250" y="3048000"/>
            <a:ext cx="2190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250" dirty="0"/>
          </a:p>
        </p:txBody>
      </p:sp>
      <p:sp>
        <p:nvSpPr>
          <p:cNvPr id="15" name="Text 9"/>
          <p:cNvSpPr/>
          <p:nvPr/>
        </p:nvSpPr>
        <p:spPr>
          <a:xfrm>
            <a:off x="9620250" y="3476625"/>
            <a:ext cx="21907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berth &amp; crane assignment</a:t>
            </a:r>
            <a:endParaRPr lang="en-US" sz="1875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2857500"/>
            <a:ext cx="2571750" cy="17145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82500" y="3048000"/>
            <a:ext cx="2190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FF6B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250" dirty="0"/>
          </a:p>
        </p:txBody>
      </p:sp>
      <p:sp>
        <p:nvSpPr>
          <p:cNvPr id="18" name="Text 11"/>
          <p:cNvSpPr/>
          <p:nvPr/>
        </p:nvSpPr>
        <p:spPr>
          <a:xfrm>
            <a:off x="12382500" y="3476625"/>
            <a:ext cx="21907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AI-generated operations brief</a:t>
            </a:r>
            <a:endParaRPr lang="en-US" sz="1875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54250" y="2857500"/>
            <a:ext cx="2571750" cy="17145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5144750" y="3048000"/>
            <a:ext cx="2190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250" dirty="0"/>
          </a:p>
        </p:txBody>
      </p:sp>
      <p:sp>
        <p:nvSpPr>
          <p:cNvPr id="21" name="Text 13"/>
          <p:cNvSpPr/>
          <p:nvPr/>
        </p:nvSpPr>
        <p:spPr>
          <a:xfrm>
            <a:off x="15144750" y="3476625"/>
            <a:ext cx="219075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operations dashboard</a:t>
            </a:r>
            <a:endParaRPr lang="en-US" sz="1875" dirty="0"/>
          </a:p>
        </p:txBody>
      </p:sp>
      <p:sp>
        <p:nvSpPr>
          <p:cNvPr id="22" name="Text 14"/>
          <p:cNvSpPr/>
          <p:nvPr/>
        </p:nvSpPr>
        <p:spPr>
          <a:xfrm>
            <a:off x="1143000" y="4857750"/>
            <a:ext cx="8572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CFE3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dashboard — simulated per-vessel details labeled</a:t>
            </a:r>
            <a:endParaRPr lang="en-US" sz="18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8893" y="5534025"/>
            <a:ext cx="6144016" cy="3940207"/>
          </a:xfrm>
          <a:prstGeom prst="rect">
            <a:avLst/>
          </a:prstGeom>
        </p:spPr>
      </p:pic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39336" y="5534596"/>
            <a:ext cx="6143758" cy="39393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3875"/>
            <a:ext cx="95250" cy="55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24000" y="495300"/>
            <a:ext cx="1524000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 aggregate data in, explainable decisions out</a:t>
            </a:r>
            <a:endParaRPr lang="en-US" sz="34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190750"/>
            <a:ext cx="16002000" cy="14287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428750" y="2381250"/>
            <a:ext cx="19050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B6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950" dirty="0"/>
          </a:p>
        </p:txBody>
      </p:sp>
      <p:sp>
        <p:nvSpPr>
          <p:cNvPr id="7" name="Text 2"/>
          <p:cNvSpPr/>
          <p:nvPr/>
        </p:nvSpPr>
        <p:spPr>
          <a:xfrm>
            <a:off x="3619500" y="2571750"/>
            <a:ext cx="13335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IMF PortWatch API  →  daily vessel-call aggregates  →  CSV cache / offline fallback</a:t>
            </a:r>
            <a:endParaRPr lang="en-US" sz="21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810000"/>
            <a:ext cx="16002000" cy="14287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428750" y="4000500"/>
            <a:ext cx="2095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C7F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950" dirty="0"/>
          </a:p>
        </p:txBody>
      </p:sp>
      <p:sp>
        <p:nvSpPr>
          <p:cNvPr id="10" name="Text 4"/>
          <p:cNvSpPr/>
          <p:nvPr/>
        </p:nvSpPr>
        <p:spPr>
          <a:xfrm>
            <a:off x="3619500" y="4191000"/>
            <a:ext cx="13335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 →  simulator.py  →  congestion.py  →  optimizer.py  →  brief_generator.py</a:t>
            </a:r>
            <a:endParaRPr lang="en-US" sz="21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429250"/>
            <a:ext cx="16002000" cy="15240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28750" y="5619750"/>
            <a:ext cx="2095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2808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</a:t>
            </a:r>
            <a:endParaRPr lang="en-US" sz="1950" dirty="0"/>
          </a:p>
        </p:txBody>
      </p:sp>
      <p:sp>
        <p:nvSpPr>
          <p:cNvPr id="13" name="Text 6"/>
          <p:cNvSpPr/>
          <p:nvPr/>
        </p:nvSpPr>
        <p:spPr>
          <a:xfrm>
            <a:off x="3619500" y="5667375"/>
            <a:ext cx="133350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2025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72-hour congestion timeline · hotspot severity summary · berth &amp; crane assignments · vessel wait times · Gemini or rule-based operations brief</a:t>
            </a:r>
            <a:endParaRPr lang="en-US" sz="2025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3000" y="7143750"/>
            <a:ext cx="7810500" cy="12382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428750" y="7286625"/>
            <a:ext cx="238125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950" dirty="0"/>
          </a:p>
        </p:txBody>
      </p:sp>
      <p:sp>
        <p:nvSpPr>
          <p:cNvPr id="16" name="Text 8"/>
          <p:cNvSpPr/>
          <p:nvPr/>
        </p:nvSpPr>
        <p:spPr>
          <a:xfrm>
            <a:off x="1428750" y="7715250"/>
            <a:ext cx="7239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+ Vite + Recharts dashboard</a:t>
            </a:r>
            <a:endParaRPr lang="en-US" sz="2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0" y="7143750"/>
            <a:ext cx="7810500" cy="12382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9620250" y="7286625"/>
            <a:ext cx="2857500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1950" dirty="0"/>
          </a:p>
        </p:txBody>
      </p:sp>
      <p:sp>
        <p:nvSpPr>
          <p:cNvPr id="19" name="Text 10"/>
          <p:cNvSpPr/>
          <p:nvPr/>
        </p:nvSpPr>
        <p:spPr>
          <a:xfrm>
            <a:off x="9620250" y="7715250"/>
            <a:ext cx="7239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Vercel frontend  →  Render backend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 / KEY FEATURE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4287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shift supervisor can see the next 72 hours at a glance</a:t>
            </a:r>
            <a:endParaRPr lang="en-US" sz="3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0" y="2857500"/>
            <a:ext cx="5334000" cy="10477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287250" y="3048000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Congestion timeline — demand, capacity, severity</a:t>
            </a:r>
            <a:endParaRPr lang="en-US" sz="1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0" y="4191000"/>
            <a:ext cx="5334000" cy="1047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287250" y="4381500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Assignment table — berth, crane count, start/end, wait</a:t>
            </a:r>
            <a:endParaRPr lang="en-US" sz="1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0" y="5524500"/>
            <a:ext cx="5334000" cy="1047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287250" y="5715000"/>
            <a:ext cx="47625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 brief — concise, shift-ready plan</a:t>
            </a:r>
            <a:endParaRPr lang="en-US" sz="1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0" y="7048500"/>
            <a:ext cx="5334000" cy="1428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2287250" y="7286625"/>
            <a:ext cx="4762500" cy="666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the hotspot before the queue becomes the problem.</a:t>
            </a:r>
            <a:endParaRPr lang="en-US" sz="2175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342" y="2428465"/>
            <a:ext cx="9144000" cy="6235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42875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23875"/>
            <a:ext cx="95250" cy="55245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524000" y="495300"/>
            <a:ext cx="15240000" cy="657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Bob was load-bearing throughout the build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1143000" y="2190750"/>
            <a:ext cx="7810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6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WE USED IBM BOB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143000" y="2857500"/>
            <a:ext cx="7810500" cy="22669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coding agent and development platform used end-to-end</a:t>
            </a:r>
            <a:endParaRPr lang="en-US" sz="21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and iterated the Python backend inside Bob</a:t>
            </a:r>
            <a:endParaRPr lang="en-US" sz="21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the React frontend inside Bob</a:t>
            </a:r>
            <a:endParaRPr lang="en-US" sz="2100" dirty="0"/>
          </a:p>
          <a:p>
            <a:pPr marL="342900" indent="-342900" algn="l">
              <a:lnSpc>
                <a:spcPct val="170000"/>
              </a:lnSpc>
              <a:buSzPct val="100000"/>
              <a:buChar char="•"/>
            </a:pPr>
            <a:r>
              <a:rPr lang="en-US" sz="2100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Refined configuration and documentation with Bob</a:t>
            </a:r>
            <a:endParaRPr lang="en-US" sz="2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6667500"/>
            <a:ext cx="7810500" cy="20955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24000" y="6953250"/>
            <a:ext cx="7048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TRANSPARENCY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1524000" y="7429500"/>
            <a:ext cx="7048500" cy="9620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0A1F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Gemini powers the optional natural-language operations brief and is not IBM technology. IBM Bob is our AI development platform and coding agent.</a:t>
            </a:r>
            <a:endParaRPr lang="en-US" sz="1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0" y="2857500"/>
            <a:ext cx="7524750" cy="1047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810750" y="3190875"/>
            <a:ext cx="7143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21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20250" y="4381500"/>
            <a:ext cx="7524750" cy="104775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810750" y="4714875"/>
            <a:ext cx="7143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IBM Bob</a:t>
            </a:r>
            <a:endParaRPr lang="en-US" sz="21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20250" y="5905500"/>
            <a:ext cx="7524750" cy="104775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810750" y="6238875"/>
            <a:ext cx="7143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+ Frontend + Docs</a:t>
            </a:r>
            <a:endParaRPr lang="en-US" sz="210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0250" y="7429500"/>
            <a:ext cx="7524750" cy="104775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9810750" y="7762875"/>
            <a:ext cx="71437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Working dashboard</a:t>
            </a:r>
            <a:endParaRPr lang="en-US" sz="2100" dirty="0"/>
          </a:p>
        </p:txBody>
      </p:sp>
      <p:sp>
        <p:nvSpPr>
          <p:cNvPr id="18" name="Text 9"/>
          <p:cNvSpPr/>
          <p:nvPr/>
        </p:nvSpPr>
        <p:spPr>
          <a:xfrm>
            <a:off x="9620250" y="3905250"/>
            <a:ext cx="7524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B6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250" dirty="0"/>
          </a:p>
        </p:txBody>
      </p:sp>
      <p:sp>
        <p:nvSpPr>
          <p:cNvPr id="19" name="Text 10"/>
          <p:cNvSpPr/>
          <p:nvPr/>
        </p:nvSpPr>
        <p:spPr>
          <a:xfrm>
            <a:off x="9620250" y="5429250"/>
            <a:ext cx="7524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B6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250" dirty="0"/>
          </a:p>
        </p:txBody>
      </p:sp>
      <p:sp>
        <p:nvSpPr>
          <p:cNvPr id="20" name="Text 11"/>
          <p:cNvSpPr/>
          <p:nvPr/>
        </p:nvSpPr>
        <p:spPr>
          <a:xfrm>
            <a:off x="9620250" y="6953250"/>
            <a:ext cx="7524750" cy="428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50" b="1" dirty="0">
                <a:solidFill>
                  <a:srgbClr val="1B6A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2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762000"/>
            <a:ext cx="66675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/ IMPACT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143000" y="1238250"/>
            <a:ext cx="14287500" cy="628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 is earlier visibility and explainable action</a:t>
            </a:r>
            <a:endParaRPr lang="en-US" sz="3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76500"/>
            <a:ext cx="8286750" cy="6667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24000" y="2809875"/>
            <a:ext cx="75247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DEFENSIBLE RESULTS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524000" y="3381375"/>
            <a:ext cx="7524750" cy="28765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72-hour forward planning window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One-hour congestion monitoring slots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/ MEDIUM / HIGH hotspot classification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berth assignment, O(V × B) complexity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~100 vessels handled in under 50 ms (architecture notes)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operations brief for shift supervisors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fallback when live data or Gemini is unavailable</a:t>
            </a:r>
            <a:endParaRPr lang="en-US" sz="202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0" y="2476500"/>
            <a:ext cx="7334250" cy="6667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191750" y="2809875"/>
            <a:ext cx="657225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8A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LIMITATIONS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0191750" y="3476625"/>
            <a:ext cx="657225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Per-vessel ETAs and berth/crane counts are simulated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Greedy FCFS optimisation is not globally optimal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Gemini requires an API key</a:t>
            </a:r>
            <a:endParaRPr lang="en-US" sz="2025" dirty="0"/>
          </a:p>
          <a:p>
            <a:pPr marL="342900" indent="-342900" algn="l">
              <a:lnSpc>
                <a:spcPct val="160000"/>
              </a:lnSpc>
              <a:buSzPct val="100000"/>
              <a:buChar char="•"/>
            </a:pPr>
            <a:r>
              <a:rPr lang="en-US" sz="2025" dirty="0">
                <a:solidFill>
                  <a:srgbClr val="EAF2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Render free-tier cold starts take 30–60s</a:t>
            </a:r>
            <a:endParaRPr lang="en-US" sz="20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0" y="0"/>
            <a:ext cx="5905500" cy="10287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12382500" y="0"/>
            <a:ext cx="28575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43000" y="1143000"/>
            <a:ext cx="5715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TEAM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1143000" y="1666875"/>
            <a:ext cx="85725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ByteBandits</a:t>
            </a:r>
            <a:endParaRPr lang="en-US" sz="60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048000"/>
            <a:ext cx="95250" cy="3048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619250" y="3143250"/>
            <a:ext cx="8572500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Srujal Patel</a:t>
            </a:r>
            <a:endParaRPr lang="en-US" sz="2850" dirty="0"/>
          </a:p>
        </p:txBody>
      </p:sp>
      <p:sp>
        <p:nvSpPr>
          <p:cNvPr id="8" name="Text 3"/>
          <p:cNvSpPr/>
          <p:nvPr/>
        </p:nvSpPr>
        <p:spPr>
          <a:xfrm>
            <a:off x="1619250" y="3600450"/>
            <a:ext cx="8572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2EC4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Lead</a:t>
            </a:r>
            <a:endParaRPr lang="en-US" sz="1950" dirty="0"/>
          </a:p>
        </p:txBody>
      </p:sp>
      <p:sp>
        <p:nvSpPr>
          <p:cNvPr id="9" name="Text 4"/>
          <p:cNvSpPr/>
          <p:nvPr/>
        </p:nvSpPr>
        <p:spPr>
          <a:xfrm>
            <a:off x="1619250" y="4191000"/>
            <a:ext cx="8572500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Prince Patel</a:t>
            </a:r>
            <a:endParaRPr lang="en-US" sz="2850" dirty="0"/>
          </a:p>
        </p:txBody>
      </p:sp>
      <p:sp>
        <p:nvSpPr>
          <p:cNvPr id="10" name="Text 5"/>
          <p:cNvSpPr/>
          <p:nvPr/>
        </p:nvSpPr>
        <p:spPr>
          <a:xfrm>
            <a:off x="1619250" y="4648200"/>
            <a:ext cx="8572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FB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[Role to confirm]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619250" y="5219700"/>
            <a:ext cx="8572500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Manav Patel</a:t>
            </a:r>
            <a:endParaRPr lang="en-US" sz="2850" dirty="0"/>
          </a:p>
        </p:txBody>
      </p:sp>
      <p:sp>
        <p:nvSpPr>
          <p:cNvPr id="12" name="Text 7"/>
          <p:cNvSpPr/>
          <p:nvPr/>
        </p:nvSpPr>
        <p:spPr>
          <a:xfrm>
            <a:off x="1619250" y="5676900"/>
            <a:ext cx="8572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FB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[Role to confirm]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619250" y="6248400"/>
            <a:ext cx="8572500" cy="5429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Mantra Patel</a:t>
            </a:r>
            <a:endParaRPr lang="en-US" sz="2850" dirty="0"/>
          </a:p>
        </p:txBody>
      </p:sp>
      <p:sp>
        <p:nvSpPr>
          <p:cNvPr id="14" name="Text 9"/>
          <p:cNvSpPr/>
          <p:nvPr/>
        </p:nvSpPr>
        <p:spPr>
          <a:xfrm>
            <a:off x="1619250" y="6705600"/>
            <a:ext cx="857250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50" dirty="0">
                <a:solidFill>
                  <a:srgbClr val="8FB4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[Role to confirm]</a:t>
            </a:r>
            <a:endParaRPr lang="en-US" sz="1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7810500"/>
            <a:ext cx="9525000" cy="142875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24000" y="8077200"/>
            <a:ext cx="8763000" cy="76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Turning vessel data into decisions before congestion becomes delay.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Custom</PresentationFormat>
  <Paragraphs>100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0d7505b5-1b7d-49b2-bb33-c298e7e755c3</dc:title>
  <dc:subject>Presentation Export</dc:subject>
  <dc:creator>Design Export</dc:creator>
  <cp:lastModifiedBy>Prince Patel</cp:lastModifiedBy>
  <cp:revision>1</cp:revision>
  <cp:lastPrinted>2026-09-15T10:26:28Z</cp:lastPrinted>
  <dcterms:created xsi:type="dcterms:W3CDTF">2026-09-15T10:24:45Z</dcterms:created>
  <dcterms:modified xsi:type="dcterms:W3CDTF">2026-09-15T10:26:48Z</dcterms:modified>
</cp:coreProperties>
</file>